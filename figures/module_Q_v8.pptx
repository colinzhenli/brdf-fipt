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3" name="Picture 42" descr="latent_grid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571500"/>
            <a:ext cx="4572000" cy="304800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1733550" y="2524125"/>
            <a:ext cx="2619375" cy="1876425"/>
          </a:xfrm>
          <a:custGeom>
            <a:avLst/>
            <a:gdLst/>
            <a:ahLst/>
            <a:cxnLst/>
            <a:rect l="l" t="t" r="r" b="b"/>
            <a:pathLst>
              <a:path w="2619375" h="1876425">
                <a:moveTo>
                  <a:pt x="2619375" y="0"/>
                </a:moveTo>
                <a:lnTo>
                  <a:pt x="2517167" y="186611"/>
                </a:lnTo>
                <a:lnTo>
                  <a:pt x="2425005" y="355252"/>
                </a:lnTo>
                <a:lnTo>
                  <a:pt x="2271712" y="648890"/>
                </a:lnTo>
                <a:lnTo>
                  <a:pt x="2161282" y="901451"/>
                </a:lnTo>
                <a:lnTo>
                  <a:pt x="2095500" y="1133475"/>
                </a:lnTo>
                <a:lnTo>
                  <a:pt x="2066943" y="1210047"/>
                </a:lnTo>
                <a:lnTo>
                  <a:pt x="2005458" y="1276350"/>
                </a:lnTo>
                <a:lnTo>
                  <a:pt x="1915176" y="1333723"/>
                </a:lnTo>
                <a:lnTo>
                  <a:pt x="1800225" y="1383506"/>
                </a:lnTo>
                <a:lnTo>
                  <a:pt x="1512837" y="1465659"/>
                </a:lnTo>
                <a:lnTo>
                  <a:pt x="1176337" y="1533525"/>
                </a:lnTo>
                <a:lnTo>
                  <a:pt x="823763" y="1597818"/>
                </a:lnTo>
                <a:lnTo>
                  <a:pt x="488156" y="1669256"/>
                </a:lnTo>
                <a:lnTo>
                  <a:pt x="337039" y="1711002"/>
                </a:lnTo>
                <a:lnTo>
                  <a:pt x="202555" y="1758553"/>
                </a:lnTo>
                <a:lnTo>
                  <a:pt x="88831" y="1813247"/>
                </a:lnTo>
                <a:lnTo>
                  <a:pt x="0" y="1876425"/>
                </a:lnTo>
              </a:path>
            </a:pathLst>
          </a:custGeom>
          <a:noFill/>
          <a:ln w="28575">
            <a:solidFill>
              <a:srgbClr val="C89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200" y="4476750"/>
            <a:ext cx="419100" cy="209550"/>
          </a:xfrm>
          <a:prstGeom prst="rect">
            <a:avLst/>
          </a:prstGeom>
          <a:solidFill>
            <a:srgbClr val="FFFFFF"/>
          </a:solidFill>
          <a:ln w="2381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0565" y="4470083"/>
            <a:ext cx="356235" cy="2933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2200">
                <a:solidFill>
                  <a:srgbClr val="8A6603"/>
                </a:solidFill>
                <a:latin typeface="Georgia, serif"/>
              </a:rPr>
              <a:t>g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495800" y="2266950"/>
            <a:ext cx="781050" cy="342900"/>
          </a:xfrm>
          <a:prstGeom prst="line">
            <a:avLst/>
          </a:prstGeom>
          <a:ln w="28575">
            <a:solidFill>
              <a:srgbClr val="312C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5191125" y="1952625"/>
            <a:ext cx="142875" cy="238125"/>
          </a:xfrm>
          <a:prstGeom prst="line">
            <a:avLst/>
          </a:prstGeom>
          <a:ln w="33337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334000" y="1914525"/>
            <a:ext cx="276225" cy="276225"/>
          </a:xfrm>
          <a:prstGeom prst="line">
            <a:avLst/>
          </a:prstGeom>
          <a:ln w="33337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48275" y="2190750"/>
            <a:ext cx="85725" cy="85725"/>
          </a:xfrm>
          <a:prstGeom prst="line">
            <a:avLst/>
          </a:prstGeom>
          <a:ln w="33337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34000" y="2190750"/>
            <a:ext cx="238125" cy="142875"/>
          </a:xfrm>
          <a:prstGeom prst="line">
            <a:avLst/>
          </a:prstGeom>
          <a:ln w="33337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19600" y="2533650"/>
            <a:ext cx="152400" cy="152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57800" y="2114550"/>
            <a:ext cx="152400" cy="1524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2498408"/>
            <a:ext cx="356235" cy="2933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latin typeface="Georgia, serif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2050" y="1917383"/>
            <a:ext cx="502920" cy="2933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latin typeface="Georgia, serif"/>
              </a:rPr>
              <a:t>u′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" y="5183029"/>
            <a:ext cx="480060" cy="28003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2100">
                <a:solidFill>
                  <a:srgbClr val="C8930A"/>
                </a:solidFill>
                <a:latin typeface="Georgia, serif"/>
              </a:rPr>
              <a:t>ωi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" y="5611654"/>
            <a:ext cx="480060" cy="28003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r"/>
            <a:r>
              <a:rPr sz="2100">
                <a:solidFill>
                  <a:srgbClr val="3A3F45"/>
                </a:solidFill>
                <a:latin typeface="Georgia, serif"/>
              </a:rPr>
              <a:t>ωo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5450" y="4581525"/>
            <a:ext cx="1676400" cy="361950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95400" y="5210175"/>
            <a:ext cx="2057400" cy="76200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95400" y="5476875"/>
            <a:ext cx="2076450" cy="238125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52850" y="4867275"/>
            <a:ext cx="495300" cy="16192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52850" y="4867275"/>
            <a:ext cx="495300" cy="48577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52850" y="5029200"/>
            <a:ext cx="495300" cy="16192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52850" y="5191125"/>
            <a:ext cx="495300" cy="16192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752850" y="5029200"/>
            <a:ext cx="495300" cy="48577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52850" y="5353050"/>
            <a:ext cx="495300" cy="161925"/>
          </a:xfrm>
          <a:prstGeom prst="line">
            <a:avLst/>
          </a:prstGeom>
          <a:ln w="24765">
            <a:solidFill>
              <a:srgbClr val="D625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29025" y="4743450"/>
            <a:ext cx="247650" cy="247650"/>
          </a:xfrm>
          <a:prstGeom prst="ellipse">
            <a:avLst/>
          </a:prstGeom>
          <a:solidFill>
            <a:srgbClr val="D6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9025" y="5067300"/>
            <a:ext cx="247650" cy="247650"/>
          </a:xfrm>
          <a:prstGeom prst="ellipse">
            <a:avLst/>
          </a:prstGeom>
          <a:solidFill>
            <a:srgbClr val="D6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29025" y="5391150"/>
            <a:ext cx="247650" cy="247650"/>
          </a:xfrm>
          <a:prstGeom prst="ellipse">
            <a:avLst/>
          </a:prstGeom>
          <a:solidFill>
            <a:srgbClr val="D6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24325" y="4905375"/>
            <a:ext cx="247650" cy="247650"/>
          </a:xfrm>
          <a:prstGeom prst="ellipse">
            <a:avLst/>
          </a:prstGeom>
          <a:solidFill>
            <a:srgbClr val="D6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24325" y="5229225"/>
            <a:ext cx="247650" cy="247650"/>
          </a:xfrm>
          <a:prstGeom prst="ellipse">
            <a:avLst/>
          </a:prstGeom>
          <a:solidFill>
            <a:srgbClr val="D62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912989" y="4305300"/>
            <a:ext cx="187523" cy="271462"/>
          </a:xfrm>
          <a:custGeom>
            <a:avLst/>
            <a:gdLst/>
            <a:ahLst/>
            <a:cxnLst/>
            <a:rect l="l" t="t" r="r" b="b"/>
            <a:pathLst>
              <a:path w="187523" h="271462">
                <a:moveTo>
                  <a:pt x="87511" y="0"/>
                </a:moveTo>
                <a:lnTo>
                  <a:pt x="28351" y="74562"/>
                </a:lnTo>
                <a:lnTo>
                  <a:pt x="0" y="146446"/>
                </a:lnTo>
                <a:lnTo>
                  <a:pt x="1116" y="212973"/>
                </a:lnTo>
                <a:lnTo>
                  <a:pt x="30361" y="271462"/>
                </a:lnTo>
                <a:lnTo>
                  <a:pt x="71437" y="223242"/>
                </a:lnTo>
                <a:lnTo>
                  <a:pt x="101798" y="228600"/>
                </a:lnTo>
                <a:lnTo>
                  <a:pt x="144661" y="128587"/>
                </a:lnTo>
                <a:lnTo>
                  <a:pt x="171450" y="183951"/>
                </a:lnTo>
                <a:lnTo>
                  <a:pt x="144661" y="271462"/>
                </a:lnTo>
                <a:lnTo>
                  <a:pt x="176807" y="227707"/>
                </a:lnTo>
                <a:lnTo>
                  <a:pt x="187523" y="167878"/>
                </a:lnTo>
                <a:lnTo>
                  <a:pt x="144661" y="42862"/>
                </a:lnTo>
                <a:lnTo>
                  <a:pt x="123229" y="64293"/>
                </a:lnTo>
                <a:lnTo>
                  <a:pt x="101798" y="42862"/>
                </a:lnTo>
                <a:lnTo>
                  <a:pt x="78581" y="10715"/>
                </a:lnTo>
                <a:lnTo>
                  <a:pt x="44648" y="42862"/>
                </a:lnTo>
                <a:lnTo>
                  <a:pt x="16073" y="100012"/>
                </a:lnTo>
                <a:lnTo>
                  <a:pt x="87511" y="0"/>
                </a:lnTo>
                <a:close/>
              </a:path>
            </a:pathLst>
          </a:custGeom>
          <a:solidFill>
            <a:srgbClr val="E74C3C"/>
          </a:solidFill>
          <a:ln w="571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968353" y="4391025"/>
            <a:ext cx="64293" cy="157162"/>
          </a:xfrm>
          <a:custGeom>
            <a:avLst/>
            <a:gdLst/>
            <a:ahLst/>
            <a:cxnLst/>
            <a:rect l="l" t="t" r="r" b="b"/>
            <a:pathLst>
              <a:path w="64293" h="157162">
                <a:moveTo>
                  <a:pt x="32147" y="0"/>
                </a:moveTo>
                <a:lnTo>
                  <a:pt x="0" y="89296"/>
                </a:lnTo>
                <a:lnTo>
                  <a:pt x="32147" y="157162"/>
                </a:lnTo>
                <a:lnTo>
                  <a:pt x="64293" y="89296"/>
                </a:lnTo>
                <a:lnTo>
                  <a:pt x="32147" y="0"/>
                </a:lnTo>
                <a:close/>
              </a:path>
            </a:pathLst>
          </a:cu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1" y="5815965"/>
            <a:ext cx="2788919" cy="320039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400">
                <a:latin typeface="Helvetica, Arial, sans-serif"/>
              </a:rPr>
              <a:t>Geometry decoder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19600" y="5191125"/>
            <a:ext cx="1200150" cy="0"/>
          </a:xfrm>
          <a:prstGeom prst="line">
            <a:avLst/>
          </a:prstGeom>
          <a:ln w="285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715000" y="5086350"/>
            <a:ext cx="209550" cy="209550"/>
          </a:xfrm>
          <a:prstGeom prst="rect">
            <a:avLst/>
          </a:prstGeom>
          <a:solidFill>
            <a:srgbClr val="B9A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5086350"/>
            <a:ext cx="209550" cy="209550"/>
          </a:xfrm>
          <a:prstGeom prst="rect">
            <a:avLst/>
          </a:prstGeom>
          <a:solidFill>
            <a:srgbClr val="312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82615" y="4793933"/>
            <a:ext cx="502920" cy="2933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312C7C"/>
                </a:solidFill>
                <a:latin typeface="Georgia, serif"/>
              </a:rPr>
              <a:t>Δu</a:t>
            </a:r>
          </a:p>
        </p:txBody>
      </p:sp>
      <p:sp>
        <p:nvSpPr>
          <p:cNvPr id="37" name="Freeform 36"/>
          <p:cNvSpPr/>
          <p:nvPr/>
        </p:nvSpPr>
        <p:spPr>
          <a:xfrm>
            <a:off x="5457825" y="2024806"/>
            <a:ext cx="1987153" cy="3118694"/>
          </a:xfrm>
          <a:custGeom>
            <a:avLst/>
            <a:gdLst/>
            <a:ahLst/>
            <a:cxnLst/>
            <a:rect l="l" t="t" r="r" b="b"/>
            <a:pathLst>
              <a:path w="1987153" h="3118694">
                <a:moveTo>
                  <a:pt x="733425" y="3118694"/>
                </a:moveTo>
                <a:lnTo>
                  <a:pt x="983605" y="2994515"/>
                </a:lnTo>
                <a:lnTo>
                  <a:pt x="1199852" y="2858393"/>
                </a:lnTo>
                <a:lnTo>
                  <a:pt x="1384399" y="2711332"/>
                </a:lnTo>
                <a:lnTo>
                  <a:pt x="1539478" y="2554337"/>
                </a:lnTo>
                <a:lnTo>
                  <a:pt x="1667321" y="2388412"/>
                </a:lnTo>
                <a:lnTo>
                  <a:pt x="1770161" y="2214563"/>
                </a:lnTo>
                <a:lnTo>
                  <a:pt x="1850231" y="2033792"/>
                </a:lnTo>
                <a:lnTo>
                  <a:pt x="1909762" y="1847106"/>
                </a:lnTo>
                <a:lnTo>
                  <a:pt x="1976139" y="1460004"/>
                </a:lnTo>
                <a:lnTo>
                  <a:pt x="1987153" y="1061294"/>
                </a:lnTo>
                <a:lnTo>
                  <a:pt x="1960661" y="659011"/>
                </a:lnTo>
                <a:lnTo>
                  <a:pt x="1914525" y="261194"/>
                </a:lnTo>
                <a:lnTo>
                  <a:pt x="1882245" y="175152"/>
                </a:lnTo>
                <a:lnTo>
                  <a:pt x="1835776" y="108645"/>
                </a:lnTo>
                <a:lnTo>
                  <a:pt x="1775661" y="59773"/>
                </a:lnTo>
                <a:lnTo>
                  <a:pt x="1702444" y="26640"/>
                </a:lnTo>
                <a:lnTo>
                  <a:pt x="1518884" y="0"/>
                </a:lnTo>
                <a:lnTo>
                  <a:pt x="1289446" y="13544"/>
                </a:lnTo>
                <a:lnTo>
                  <a:pt x="1018486" y="52090"/>
                </a:lnTo>
                <a:lnTo>
                  <a:pt x="710356" y="100459"/>
                </a:lnTo>
                <a:lnTo>
                  <a:pt x="369410" y="143470"/>
                </a:lnTo>
                <a:lnTo>
                  <a:pt x="0" y="165944"/>
                </a:lnTo>
              </a:path>
            </a:pathLst>
          </a:custGeom>
          <a:noFill/>
          <a:ln w="38100">
            <a:solidFill>
              <a:srgbClr val="312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467350" y="1066800"/>
            <a:ext cx="2324100" cy="1085850"/>
          </a:xfrm>
          <a:custGeom>
            <a:avLst/>
            <a:gdLst/>
            <a:ahLst/>
            <a:cxnLst/>
            <a:rect l="l" t="t" r="r" b="b"/>
            <a:pathLst>
              <a:path w="2324100" h="1085850">
                <a:moveTo>
                  <a:pt x="0" y="1085850"/>
                </a:moveTo>
                <a:lnTo>
                  <a:pt x="506908" y="1003101"/>
                </a:lnTo>
                <a:lnTo>
                  <a:pt x="940593" y="923925"/>
                </a:lnTo>
                <a:lnTo>
                  <a:pt x="1129419" y="884559"/>
                </a:lnTo>
                <a:lnTo>
                  <a:pt x="1299269" y="844748"/>
                </a:lnTo>
                <a:lnTo>
                  <a:pt x="1449920" y="804043"/>
                </a:lnTo>
                <a:lnTo>
                  <a:pt x="1581150" y="762000"/>
                </a:lnTo>
                <a:lnTo>
                  <a:pt x="1703709" y="702691"/>
                </a:lnTo>
                <a:lnTo>
                  <a:pt x="1815107" y="626864"/>
                </a:lnTo>
                <a:lnTo>
                  <a:pt x="2009775" y="438150"/>
                </a:lnTo>
                <a:lnTo>
                  <a:pt x="2175867" y="220860"/>
                </a:lnTo>
                <a:lnTo>
                  <a:pt x="2324100" y="0"/>
                </a:lnTo>
              </a:path>
            </a:pathLst>
          </a:custGeom>
          <a:noFill/>
          <a:ln w="3238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5750" y="914400"/>
            <a:ext cx="838200" cy="209550"/>
          </a:xfrm>
          <a:prstGeom prst="rect">
            <a:avLst/>
          </a:prstGeom>
          <a:solidFill>
            <a:srgbClr val="312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89670" y="914400"/>
            <a:ext cx="209550" cy="209550"/>
          </a:xfrm>
          <a:prstGeom prst="rect">
            <a:avLst/>
          </a:prstGeom>
          <a:solidFill>
            <a:srgbClr val="2E6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45892" y="914400"/>
            <a:ext cx="209550" cy="209550"/>
          </a:xfrm>
          <a:prstGeom prst="rect">
            <a:avLst/>
          </a:prstGeom>
          <a:solidFill>
            <a:srgbClr val="7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9516" y="602933"/>
            <a:ext cx="1969769" cy="29337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/>
            <a:r>
              <a:rPr sz="2200">
                <a:latin typeface="Helvetica, Arial, sans-serif"/>
              </a:rPr>
              <a:t>Latent  n 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