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8911" y="2625903"/>
            <a:ext cx="825283" cy="206320"/>
          </a:xfrm>
          <a:prstGeom prst="rect">
            <a:avLst/>
          </a:prstGeom>
          <a:solidFill>
            <a:srgbClr val="312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39210" y="2625903"/>
            <a:ext cx="206320" cy="206320"/>
          </a:xfrm>
          <a:prstGeom prst="rect">
            <a:avLst/>
          </a:prstGeom>
          <a:solidFill>
            <a:srgbClr val="2E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91485" y="2625903"/>
            <a:ext cx="206320" cy="206320"/>
          </a:xfrm>
          <a:prstGeom prst="rect">
            <a:avLst/>
          </a:prstGeom>
          <a:solidFill>
            <a:srgbClr val="7FB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166" y="2300479"/>
            <a:ext cx="1939417" cy="28884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166">
                <a:latin typeface="Helvetica, Arial, sans-serif"/>
              </a:rPr>
              <a:t>Latent  n  t</a:t>
            </a:r>
          </a:p>
        </p:txBody>
      </p:sp>
      <p:sp>
        <p:nvSpPr>
          <p:cNvPr id="6" name="Freeform 5"/>
          <p:cNvSpPr/>
          <p:nvPr/>
        </p:nvSpPr>
        <p:spPr>
          <a:xfrm>
            <a:off x="1641189" y="1781863"/>
            <a:ext cx="1753729" cy="806527"/>
          </a:xfrm>
          <a:custGeom>
            <a:avLst/>
            <a:gdLst/>
            <a:ahLst/>
            <a:cxnLst/>
            <a:rect l="l" t="t" r="r" b="b"/>
            <a:pathLst>
              <a:path w="1753729" h="806527">
                <a:moveTo>
                  <a:pt x="0" y="806527"/>
                </a:moveTo>
                <a:lnTo>
                  <a:pt x="81824" y="666618"/>
                </a:lnTo>
                <a:lnTo>
                  <a:pt x="168827" y="548003"/>
                </a:lnTo>
                <a:lnTo>
                  <a:pt x="357106" y="366630"/>
                </a:lnTo>
                <a:lnTo>
                  <a:pt x="562309" y="246361"/>
                </a:lnTo>
                <a:lnTo>
                  <a:pt x="781910" y="171152"/>
                </a:lnTo>
                <a:lnTo>
                  <a:pt x="1013380" y="124957"/>
                </a:lnTo>
                <a:lnTo>
                  <a:pt x="1254192" y="91730"/>
                </a:lnTo>
                <a:lnTo>
                  <a:pt x="1501817" y="55426"/>
                </a:lnTo>
                <a:lnTo>
                  <a:pt x="1753729" y="0"/>
                </a:lnTo>
              </a:path>
            </a:pathLst>
          </a:cu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1287" y="885773"/>
            <a:ext cx="2027572" cy="30197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64">
                <a:latin typeface="Helvetica, Arial, sans-serif"/>
              </a:rPr>
              <a:t>Gram–Schmidt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938855" y="1406734"/>
            <a:ext cx="0" cy="375129"/>
          </a:xfrm>
          <a:prstGeom prst="line">
            <a:avLst/>
          </a:prstGeom>
          <a:ln w="32385">
            <a:solidFill>
              <a:srgbClr val="D03A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8855" y="1781863"/>
            <a:ext cx="356372" cy="0"/>
          </a:xfrm>
          <a:prstGeom prst="line">
            <a:avLst/>
          </a:prstGeom>
          <a:ln w="32385">
            <a:solidFill>
              <a:srgbClr val="4FAE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695021" y="1781863"/>
            <a:ext cx="243834" cy="206321"/>
          </a:xfrm>
          <a:prstGeom prst="line">
            <a:avLst/>
          </a:prstGeom>
          <a:ln w="32385">
            <a:solidFill>
              <a:srgbClr val="3672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13881" y="1292788"/>
            <a:ext cx="302916" cy="249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70">
                <a:solidFill>
                  <a:srgbClr val="D03A2B"/>
                </a:solidFill>
                <a:latin typeface="Georgia, serif"/>
              </a:rPr>
              <a:t>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1497" y="1686674"/>
            <a:ext cx="427647" cy="249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70">
                <a:solidFill>
                  <a:srgbClr val="4FAE4E"/>
                </a:solidFill>
                <a:latin typeface="Georgia, serif"/>
              </a:rPr>
              <a:t>t̃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8700" y="1930508"/>
            <a:ext cx="427647" cy="249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70">
                <a:solidFill>
                  <a:srgbClr val="3672B0"/>
                </a:solidFill>
                <a:latin typeface="Georgia, serif"/>
              </a:rPr>
              <a:t>b̃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8855" y="2138235"/>
            <a:ext cx="0" cy="881554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3937" y="3546376"/>
            <a:ext cx="472662" cy="27571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067">
                <a:solidFill>
                  <a:srgbClr val="C8930A"/>
                </a:solidFill>
                <a:latin typeface="Georgia, serif"/>
              </a:rPr>
              <a:t>ωi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579" y="3546376"/>
            <a:ext cx="472662" cy="27571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067">
                <a:solidFill>
                  <a:srgbClr val="3A3F45"/>
                </a:solidFill>
                <a:latin typeface="Georgia, serif"/>
              </a:rPr>
              <a:t>ωo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722" y="3840853"/>
            <a:ext cx="940636" cy="22320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73">
                <a:solidFill>
                  <a:srgbClr val="555555"/>
                </a:solidFill>
                <a:latin typeface="Helvetica, Arial, sans-serif"/>
              </a:rPr>
              <a:t>(world)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06734" y="3657508"/>
            <a:ext cx="1856888" cy="0"/>
          </a:xfrm>
          <a:prstGeom prst="line">
            <a:avLst/>
          </a:prstGeom>
          <a:ln w="285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938855" y="3263622"/>
            <a:ext cx="0" cy="487668"/>
          </a:xfrm>
          <a:prstGeom prst="line">
            <a:avLst/>
          </a:prstGeom>
          <a:ln w="32385">
            <a:solidFill>
              <a:srgbClr val="D03A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8855" y="3751290"/>
            <a:ext cx="375129" cy="37513"/>
          </a:xfrm>
          <a:prstGeom prst="line">
            <a:avLst/>
          </a:prstGeom>
          <a:ln w="28575">
            <a:solidFill>
              <a:srgbClr val="4FAE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732534" y="3751290"/>
            <a:ext cx="206321" cy="206321"/>
          </a:xfrm>
          <a:prstGeom prst="line">
            <a:avLst/>
          </a:prstGeom>
          <a:ln w="28575">
            <a:solidFill>
              <a:srgbClr val="3672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938855" y="3394918"/>
            <a:ext cx="375129" cy="356372"/>
          </a:xfrm>
          <a:prstGeom prst="line">
            <a:avLst/>
          </a:prstGeom>
          <a:ln w="32385">
            <a:solidFill>
              <a:srgbClr val="C893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544969" y="3432431"/>
            <a:ext cx="393886" cy="318859"/>
          </a:xfrm>
          <a:prstGeom prst="line">
            <a:avLst/>
          </a:prstGeom>
          <a:ln w="32385">
            <a:solidFill>
              <a:srgbClr val="3A3F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95124" y="3055895"/>
            <a:ext cx="302916" cy="249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70">
                <a:solidFill>
                  <a:srgbClr val="D03A2B"/>
                </a:solidFill>
                <a:latin typeface="Georgia, serif"/>
              </a:rPr>
              <a:t>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253" y="3224703"/>
            <a:ext cx="427647" cy="249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70">
                <a:solidFill>
                  <a:srgbClr val="C8930A"/>
                </a:solidFill>
                <a:latin typeface="Georgia, serif"/>
              </a:rPr>
              <a:t>ωi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3622" y="3262216"/>
            <a:ext cx="427647" cy="249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70">
                <a:solidFill>
                  <a:srgbClr val="3A3F45"/>
                </a:solidFill>
                <a:latin typeface="Georgia, serif"/>
              </a:rPr>
              <a:t>ωo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2398" y="4181282"/>
            <a:ext cx="1550220" cy="249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870">
                <a:latin typeface="Helvetica, Arial, sans-serif"/>
              </a:rPr>
              <a:t>local frame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539061" y="2475851"/>
            <a:ext cx="1125388" cy="1350465"/>
          </a:xfrm>
          <a:prstGeom prst="line">
            <a:avLst/>
          </a:prstGeom>
          <a:ln w="28575">
            <a:solidFill>
              <a:srgbClr val="D03A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539061" y="3094814"/>
            <a:ext cx="1125388" cy="731502"/>
          </a:xfrm>
          <a:prstGeom prst="line">
            <a:avLst/>
          </a:prstGeom>
          <a:ln w="28575">
            <a:solidFill>
              <a:srgbClr val="C893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539061" y="3713777"/>
            <a:ext cx="1125388" cy="112539"/>
          </a:xfrm>
          <a:prstGeom prst="line">
            <a:avLst/>
          </a:prstGeom>
          <a:ln w="28575">
            <a:solidFill>
              <a:srgbClr val="3A3F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01596" y="1823596"/>
            <a:ext cx="1876583" cy="30197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64">
                <a:latin typeface="Helvetica, Arial, sans-serif"/>
              </a:rPr>
              <a:t>SH encoding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8282" y="2382070"/>
            <a:ext cx="318859" cy="262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69">
                <a:solidFill>
                  <a:srgbClr val="D03A2B"/>
                </a:solidFill>
                <a:latin typeface="Georgia, serif"/>
              </a:rPr>
              <a:t>ñ</a:t>
            </a:r>
          </a:p>
        </p:txBody>
      </p:sp>
      <p:sp>
        <p:nvSpPr>
          <p:cNvPr id="33" name="Oval 32"/>
          <p:cNvSpPr/>
          <p:nvPr/>
        </p:nvSpPr>
        <p:spPr>
          <a:xfrm>
            <a:off x="6977400" y="2325800"/>
            <a:ext cx="300103" cy="300103"/>
          </a:xfrm>
          <a:prstGeom prst="ellipse">
            <a:avLst/>
          </a:prstGeom>
          <a:solidFill>
            <a:srgbClr val="FF9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8282" y="3001033"/>
            <a:ext cx="450154" cy="262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69">
                <a:solidFill>
                  <a:srgbClr val="C8930A"/>
                </a:solidFill>
                <a:latin typeface="Georgia, serif"/>
              </a:rPr>
              <a:t>ωi</a:t>
            </a:r>
          </a:p>
        </p:txBody>
      </p:sp>
      <p:sp>
        <p:nvSpPr>
          <p:cNvPr id="35" name="Oval 34"/>
          <p:cNvSpPr/>
          <p:nvPr/>
        </p:nvSpPr>
        <p:spPr>
          <a:xfrm>
            <a:off x="6602271" y="2944763"/>
            <a:ext cx="300103" cy="300103"/>
          </a:xfrm>
          <a:prstGeom prst="ellipse">
            <a:avLst/>
          </a:prstGeom>
          <a:solidFill>
            <a:srgbClr val="3F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77400" y="2944763"/>
            <a:ext cx="300103" cy="300103"/>
          </a:xfrm>
          <a:prstGeom prst="ellipse">
            <a:avLst/>
          </a:prstGeom>
          <a:solidFill>
            <a:srgbClr val="FF9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52529" y="2944763"/>
            <a:ext cx="300103" cy="300103"/>
          </a:xfrm>
          <a:prstGeom prst="ellipse">
            <a:avLst/>
          </a:prstGeom>
          <a:solidFill>
            <a:srgbClr val="3F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08282" y="3619996"/>
            <a:ext cx="450154" cy="262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69">
                <a:solidFill>
                  <a:srgbClr val="3A3F45"/>
                </a:solidFill>
                <a:latin typeface="Georgia, serif"/>
              </a:rPr>
              <a:t>ωo</a:t>
            </a:r>
          </a:p>
        </p:txBody>
      </p:sp>
      <p:sp>
        <p:nvSpPr>
          <p:cNvPr id="39" name="Oval 38"/>
          <p:cNvSpPr/>
          <p:nvPr/>
        </p:nvSpPr>
        <p:spPr>
          <a:xfrm>
            <a:off x="6227142" y="3563726"/>
            <a:ext cx="300103" cy="300103"/>
          </a:xfrm>
          <a:prstGeom prst="ellipse">
            <a:avLst/>
          </a:prstGeom>
          <a:solidFill>
            <a:srgbClr val="3F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2271" y="3563726"/>
            <a:ext cx="300103" cy="300103"/>
          </a:xfrm>
          <a:prstGeom prst="ellipse">
            <a:avLst/>
          </a:prstGeom>
          <a:solidFill>
            <a:srgbClr val="3F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77400" y="3563726"/>
            <a:ext cx="300103" cy="300103"/>
          </a:xfrm>
          <a:prstGeom prst="ellipse">
            <a:avLst/>
          </a:prstGeom>
          <a:solidFill>
            <a:srgbClr val="A82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52529" y="3563726"/>
            <a:ext cx="300103" cy="300103"/>
          </a:xfrm>
          <a:prstGeom prst="ellipse">
            <a:avLst/>
          </a:prstGeom>
          <a:solidFill>
            <a:srgbClr val="3F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27658" y="3563726"/>
            <a:ext cx="300103" cy="300103"/>
          </a:xfrm>
          <a:prstGeom prst="ellipse">
            <a:avLst/>
          </a:prstGeom>
          <a:solidFill>
            <a:srgbClr val="3F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7553" y="2719685"/>
            <a:ext cx="253212" cy="206320"/>
          </a:xfrm>
          <a:prstGeom prst="rect">
            <a:avLst/>
          </a:prstGeom>
          <a:solidFill>
            <a:srgbClr val="4A8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28278" y="2719685"/>
            <a:ext cx="253212" cy="206320"/>
          </a:xfrm>
          <a:prstGeom prst="rect">
            <a:avLst/>
          </a:prstGeom>
          <a:solidFill>
            <a:srgbClr val="4A8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19003" y="2719685"/>
            <a:ext cx="253212" cy="206320"/>
          </a:xfrm>
          <a:prstGeom prst="rect">
            <a:avLst/>
          </a:prstGeom>
          <a:solidFill>
            <a:srgbClr val="4A8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40367" y="3071838"/>
            <a:ext cx="829035" cy="22320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73">
                <a:solidFill>
                  <a:srgbClr val="555555"/>
                </a:solidFill>
                <a:latin typeface="Helvetica, Arial, sans-serif"/>
              </a:rPr>
              <a:t>concat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27865" y="2475851"/>
            <a:ext cx="815906" cy="281347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327865" y="2822846"/>
            <a:ext cx="815906" cy="271968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327865" y="2888493"/>
            <a:ext cx="815906" cy="825284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0597396" y="2625903"/>
            <a:ext cx="825283" cy="206320"/>
          </a:xfrm>
          <a:prstGeom prst="rect">
            <a:avLst/>
          </a:prstGeom>
          <a:solidFill>
            <a:srgbClr val="312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69571" y="2625903"/>
            <a:ext cx="536434" cy="206320"/>
          </a:xfrm>
          <a:prstGeom prst="rect">
            <a:avLst/>
          </a:prstGeom>
          <a:solidFill>
            <a:srgbClr val="4A8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0147241" y="2869737"/>
            <a:ext cx="1478009" cy="214527"/>
          </a:xfrm>
          <a:custGeom>
            <a:avLst/>
            <a:gdLst/>
            <a:ahLst/>
            <a:cxnLst/>
            <a:rect l="l" t="t" r="r" b="b"/>
            <a:pathLst>
              <a:path w="1478009" h="214527">
                <a:moveTo>
                  <a:pt x="0" y="0"/>
                </a:moveTo>
                <a:lnTo>
                  <a:pt x="168519" y="87756"/>
                </a:lnTo>
                <a:lnTo>
                  <a:pt x="364139" y="153422"/>
                </a:lnTo>
                <a:lnTo>
                  <a:pt x="575629" y="196009"/>
                </a:lnTo>
                <a:lnTo>
                  <a:pt x="791757" y="214527"/>
                </a:lnTo>
                <a:lnTo>
                  <a:pt x="1001291" y="207988"/>
                </a:lnTo>
                <a:lnTo>
                  <a:pt x="1192998" y="175402"/>
                </a:lnTo>
                <a:lnTo>
                  <a:pt x="1355648" y="115781"/>
                </a:lnTo>
                <a:lnTo>
                  <a:pt x="1478009" y="28135"/>
                </a:lnTo>
              </a:path>
            </a:pathLst>
          </a:cu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81553" y="743224"/>
            <a:ext cx="10128485" cy="1826410"/>
          </a:xfrm>
          <a:custGeom>
            <a:avLst/>
            <a:gdLst/>
            <a:ahLst/>
            <a:cxnLst/>
            <a:rect l="l" t="t" r="r" b="b"/>
            <a:pathLst>
              <a:path w="10128485" h="1826410">
                <a:moveTo>
                  <a:pt x="0" y="1826410"/>
                </a:moveTo>
                <a:lnTo>
                  <a:pt x="111620" y="1605810"/>
                </a:lnTo>
                <a:lnTo>
                  <a:pt x="258611" y="1399435"/>
                </a:lnTo>
                <a:lnTo>
                  <a:pt x="438758" y="1207278"/>
                </a:lnTo>
                <a:lnTo>
                  <a:pt x="649845" y="1029334"/>
                </a:lnTo>
                <a:lnTo>
                  <a:pt x="889658" y="865594"/>
                </a:lnTo>
                <a:lnTo>
                  <a:pt x="1155981" y="716051"/>
                </a:lnTo>
                <a:lnTo>
                  <a:pt x="1446599" y="580700"/>
                </a:lnTo>
                <a:lnTo>
                  <a:pt x="1759297" y="459533"/>
                </a:lnTo>
                <a:lnTo>
                  <a:pt x="2091859" y="352543"/>
                </a:lnTo>
                <a:lnTo>
                  <a:pt x="2442071" y="259724"/>
                </a:lnTo>
                <a:lnTo>
                  <a:pt x="2807717" y="181068"/>
                </a:lnTo>
                <a:lnTo>
                  <a:pt x="3186582" y="116568"/>
                </a:lnTo>
                <a:lnTo>
                  <a:pt x="3975109" y="30012"/>
                </a:lnTo>
                <a:lnTo>
                  <a:pt x="4789929" y="0"/>
                </a:lnTo>
                <a:lnTo>
                  <a:pt x="5613322" y="26477"/>
                </a:lnTo>
                <a:lnTo>
                  <a:pt x="6427565" y="109388"/>
                </a:lnTo>
                <a:lnTo>
                  <a:pt x="7214938" y="248679"/>
                </a:lnTo>
                <a:lnTo>
                  <a:pt x="7593010" y="339449"/>
                </a:lnTo>
                <a:lnTo>
                  <a:pt x="7957718" y="444293"/>
                </a:lnTo>
                <a:lnTo>
                  <a:pt x="8306848" y="563205"/>
                </a:lnTo>
                <a:lnTo>
                  <a:pt x="8638185" y="696178"/>
                </a:lnTo>
                <a:lnTo>
                  <a:pt x="8949512" y="843204"/>
                </a:lnTo>
                <a:lnTo>
                  <a:pt x="9238616" y="1004276"/>
                </a:lnTo>
                <a:lnTo>
                  <a:pt x="9503280" y="1179389"/>
                </a:lnTo>
                <a:lnTo>
                  <a:pt x="9741290" y="1368534"/>
                </a:lnTo>
                <a:lnTo>
                  <a:pt x="9950430" y="1571706"/>
                </a:lnTo>
                <a:lnTo>
                  <a:pt x="10128485" y="1788897"/>
                </a:lnTo>
              </a:path>
            </a:pathLst>
          </a:custGeom>
          <a:noFill/>
          <a:ln w="28575">
            <a:solidFill>
              <a:srgbClr val="D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8799" y="422021"/>
            <a:ext cx="1500516" cy="262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969">
                <a:solidFill>
                  <a:srgbClr val="D03A2B"/>
                </a:solidFill>
                <a:latin typeface="Georgia, serif"/>
              </a:rPr>
              <a:t>z (latent)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